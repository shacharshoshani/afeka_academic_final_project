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Source Sans 3"/>
      <p:regular r:id="rId15"/>
      <p:bold r:id="rId16"/>
      <p:italic r:id="rId17"/>
      <p:boldItalic r:id="rId18"/>
    </p:embeddedFont>
    <p:embeddedFont>
      <p:font typeface="Source Serif 4 SemiBold"/>
      <p:regular r:id="rId19"/>
      <p:bold r:id="rId20"/>
      <p:italic r:id="rId21"/>
      <p:boldItalic r:id="rId22"/>
    </p:embeddedFont>
    <p:embeddedFont>
      <p:font typeface="Source Serif 4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IQ8Y/9nayTEgV97XStosxgjf4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erif4SemiBold-bold.fntdata"/><Relationship Id="rId22" Type="http://schemas.openxmlformats.org/officeDocument/2006/relationships/font" Target="fonts/SourceSerif4SemiBold-boldItalic.fntdata"/><Relationship Id="rId21" Type="http://schemas.openxmlformats.org/officeDocument/2006/relationships/font" Target="fonts/SourceSerif4SemiBold-italic.fntdata"/><Relationship Id="rId24" Type="http://schemas.openxmlformats.org/officeDocument/2006/relationships/font" Target="fonts/SourceSerif4-bold.fntdata"/><Relationship Id="rId23" Type="http://schemas.openxmlformats.org/officeDocument/2006/relationships/font" Target="fonts/SourceSerif4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Serif4-boldItalic.fntdata"/><Relationship Id="rId25" Type="http://schemas.openxmlformats.org/officeDocument/2006/relationships/font" Target="fonts/SourceSerif4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SourceSans3-regular.fntdata"/><Relationship Id="rId14" Type="http://schemas.openxmlformats.org/officeDocument/2006/relationships/slide" Target="slides/slide10.xml"/><Relationship Id="rId17" Type="http://schemas.openxmlformats.org/officeDocument/2006/relationships/font" Target="fonts/SourceSans3-italic.fntdata"/><Relationship Id="rId16" Type="http://schemas.openxmlformats.org/officeDocument/2006/relationships/font" Target="fonts/SourceSans3-bold.fntdata"/><Relationship Id="rId19" Type="http://schemas.openxmlformats.org/officeDocument/2006/relationships/font" Target="fonts/SourceSerif4SemiBold-regular.fntdata"/><Relationship Id="rId18" Type="http://schemas.openxmlformats.org/officeDocument/2006/relationships/font" Target="fonts/SourceSans3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837724" y="1910953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 SemiBold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Livin - Youth-Driven Pet &amp; Plant Care Platform</a:t>
            </a:r>
            <a:endParaRPr b="0" i="0" sz="440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837749" y="3546363"/>
            <a:ext cx="7468500" cy="11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Source Serif 4 SemiBold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Peer-to-Peer App Connecting Owners and Young Helpers</a:t>
            </a:r>
            <a:endParaRPr i="0" sz="3000" u="none" cap="none" strike="noStrike"/>
          </a:p>
        </p:txBody>
      </p:sp>
      <p:sp>
        <p:nvSpPr>
          <p:cNvPr id="59" name="Google Shape;59;p1"/>
          <p:cNvSpPr/>
          <p:nvPr/>
        </p:nvSpPr>
        <p:spPr>
          <a:xfrm>
            <a:off x="837724" y="4900255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BE49D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Benny Giorno</a:t>
            </a:r>
            <a:endParaRPr sz="1850">
              <a:solidFill>
                <a:srgbClr val="BE49D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BE49D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Shachar Shoshani</a:t>
            </a:r>
            <a:endParaRPr b="0" i="0" sz="1850" u="none" cap="none" strike="noStrike"/>
          </a:p>
        </p:txBody>
      </p:sp>
      <p:sp>
        <p:nvSpPr>
          <p:cNvPr id="60" name="Google Shape;60;p1"/>
          <p:cNvSpPr/>
          <p:nvPr/>
        </p:nvSpPr>
        <p:spPr>
          <a:xfrm>
            <a:off x="837724" y="5935504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Final Project Presentation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50550" y="1027625"/>
            <a:ext cx="75711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Source Serif 4 SemiBold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Project Description: What is Livin?</a:t>
            </a:r>
            <a:endParaRPr b="0" i="0" sz="34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650558" y="1901071"/>
            <a:ext cx="7842885" cy="1099542"/>
          </a:xfrm>
          <a:prstGeom prst="roundRect">
            <a:avLst>
              <a:gd fmla="val 9979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27698" y="1901071"/>
            <a:ext cx="91440" cy="1099542"/>
          </a:xfrm>
          <a:prstGeom prst="roundRect">
            <a:avLst>
              <a:gd fmla="val 85387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927850" y="2109775"/>
            <a:ext cx="3242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Social &amp; Location-Based Care</a:t>
            </a:r>
            <a:endParaRPr b="0" i="0" sz="170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927854" y="2494598"/>
            <a:ext cx="7356872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 dynamic app connecting users for temporary pet, plant, and even stray animal care needs.</a:t>
            </a:r>
            <a:endParaRPr b="0" i="0" sz="145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650558" y="3186470"/>
            <a:ext cx="7842885" cy="1396841"/>
          </a:xfrm>
          <a:prstGeom prst="roundRect">
            <a:avLst>
              <a:gd fmla="val 7855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27698" y="3186470"/>
            <a:ext cx="91440" cy="1396841"/>
          </a:xfrm>
          <a:prstGeom prst="roundRect">
            <a:avLst>
              <a:gd fmla="val 85387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927850" y="3395175"/>
            <a:ext cx="2727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Connecting Generations</a:t>
            </a:r>
            <a:endParaRPr b="0" i="0" sz="170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927854" y="3779996"/>
            <a:ext cx="7356872" cy="59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Specifically designed to link pet and plant owners with responsible young helpers (ages ~15</a:t>
            </a:r>
            <a:r>
              <a:rPr lang="en-US" sz="14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to college </a:t>
            </a: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students).</a:t>
            </a:r>
            <a:endParaRPr b="0" i="0" sz="145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650558" y="4769168"/>
            <a:ext cx="7842885" cy="1099542"/>
          </a:xfrm>
          <a:prstGeom prst="roundRect">
            <a:avLst>
              <a:gd fmla="val 9979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27698" y="4769168"/>
            <a:ext cx="91440" cy="1099542"/>
          </a:xfrm>
          <a:prstGeom prst="roundRect">
            <a:avLst>
              <a:gd fmla="val 85387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927849" y="4977874"/>
            <a:ext cx="25314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Flexible Job Requests</a:t>
            </a:r>
            <a:endParaRPr b="0" i="0" sz="1700" u="none" cap="none" strike="noStrike"/>
          </a:p>
        </p:txBody>
      </p:sp>
      <p:sp>
        <p:nvSpPr>
          <p:cNvPr id="80" name="Google Shape;80;p2"/>
          <p:cNvSpPr/>
          <p:nvPr/>
        </p:nvSpPr>
        <p:spPr>
          <a:xfrm>
            <a:off x="927854" y="5362694"/>
            <a:ext cx="7356872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Owners can easily post care requests for when they're away on vacation or during busy periods.</a:t>
            </a:r>
            <a:endParaRPr b="0" i="0" sz="1450" u="none" cap="none" strike="noStrike"/>
          </a:p>
        </p:txBody>
      </p:sp>
      <p:sp>
        <p:nvSpPr>
          <p:cNvPr id="81" name="Google Shape;81;p2"/>
          <p:cNvSpPr/>
          <p:nvPr/>
        </p:nvSpPr>
        <p:spPr>
          <a:xfrm>
            <a:off x="650558" y="6054566"/>
            <a:ext cx="7842885" cy="1099542"/>
          </a:xfrm>
          <a:prstGeom prst="roundRect">
            <a:avLst>
              <a:gd fmla="val 9979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627698" y="6054566"/>
            <a:ext cx="91440" cy="1099542"/>
          </a:xfrm>
          <a:prstGeom prst="roundRect">
            <a:avLst>
              <a:gd fmla="val 85387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927850" y="6263274"/>
            <a:ext cx="3468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Local Opportunities for Youth</a:t>
            </a:r>
            <a:endParaRPr b="0" i="0" sz="1700" u="none" cap="none" strike="noStrike"/>
          </a:p>
        </p:txBody>
      </p:sp>
      <p:sp>
        <p:nvSpPr>
          <p:cNvPr id="84" name="Google Shape;84;p2"/>
          <p:cNvSpPr/>
          <p:nvPr/>
        </p:nvSpPr>
        <p:spPr>
          <a:xfrm>
            <a:off x="927854" y="6648093"/>
            <a:ext cx="7356872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Helpers discover local, short-term care jobs, offering valuable experience and income.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031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6117788" y="496133"/>
            <a:ext cx="5192435" cy="530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Source Serif 4 SemiBold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Project Goals: Why Livin?</a:t>
            </a:r>
            <a:endParaRPr b="0" i="0" sz="3300" u="none" cap="none" strike="noStrike"/>
          </a:p>
        </p:txBody>
      </p:sp>
      <p:grpSp>
        <p:nvGrpSpPr>
          <p:cNvPr id="92" name="Google Shape;92;p3"/>
          <p:cNvGrpSpPr/>
          <p:nvPr/>
        </p:nvGrpSpPr>
        <p:grpSpPr>
          <a:xfrm>
            <a:off x="6114398" y="3275821"/>
            <a:ext cx="8007763" cy="1099500"/>
            <a:chOff x="5991248" y="3058221"/>
            <a:chExt cx="8007763" cy="1099500"/>
          </a:xfrm>
        </p:grpSpPr>
        <p:sp>
          <p:nvSpPr>
            <p:cNvPr id="93" name="Google Shape;93;p3"/>
            <p:cNvSpPr/>
            <p:nvPr/>
          </p:nvSpPr>
          <p:spPr>
            <a:xfrm>
              <a:off x="6014108" y="3058221"/>
              <a:ext cx="7842900" cy="1099500"/>
            </a:xfrm>
            <a:prstGeom prst="roundRect">
              <a:avLst>
                <a:gd fmla="val 9979" name="adj"/>
              </a:avLst>
            </a:prstGeom>
            <a:solidFill>
              <a:srgbClr val="FFFFFF">
                <a:alpha val="94900"/>
              </a:srgbClr>
            </a:solidFill>
            <a:ln cap="flat" cmpd="sng" w="22850">
              <a:solidFill>
                <a:srgbClr val="D6BA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5991248" y="3058221"/>
              <a:ext cx="91500" cy="1099500"/>
            </a:xfrm>
            <a:prstGeom prst="roundRect">
              <a:avLst>
                <a:gd fmla="val 85387" name="adj"/>
              </a:avLst>
            </a:prstGeom>
            <a:solidFill>
              <a:srgbClr val="BE4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" name="Google Shape;95;p3"/>
            <p:cNvGrpSpPr/>
            <p:nvPr/>
          </p:nvGrpSpPr>
          <p:grpSpPr>
            <a:xfrm>
              <a:off x="6117788" y="3090524"/>
              <a:ext cx="7881223" cy="685474"/>
              <a:chOff x="6117788" y="3649949"/>
              <a:chExt cx="7881223" cy="685474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6117801" y="3649949"/>
                <a:ext cx="2436600" cy="28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424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2525"/>
                  </a:buClr>
                  <a:buSzPts val="1650"/>
                  <a:buFont typeface="Source Serif 4 SemiBold"/>
                  <a:buNone/>
                </a:pPr>
                <a:r>
                  <a:rPr b="1" i="0" lang="en-US" sz="1650" u="none" cap="none" strike="noStrike">
                    <a:solidFill>
                      <a:srgbClr val="272525"/>
                    </a:solidFill>
                    <a:latin typeface="Source Serif 4 SemiBold"/>
                    <a:ea typeface="Source Serif 4 SemiBold"/>
                    <a:cs typeface="Source Serif 4 SemiBold"/>
                    <a:sym typeface="Source Serif 4 SemiBold"/>
                  </a:rPr>
                  <a:t>Flexible Opportunities</a:t>
                </a:r>
                <a:endParaRPr b="0" i="0" sz="1650" u="none" cap="none" strike="noStrike"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6117788" y="4046815"/>
                <a:ext cx="7881223" cy="2886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607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2525"/>
                  </a:buClr>
                  <a:buSzPts val="1400"/>
                  <a:buFont typeface="Source Sans 3"/>
                  <a:buNone/>
                </a:pPr>
                <a:r>
                  <a:rPr b="0" i="0" lang="en-US" sz="1400" u="none" cap="none" strike="noStrike">
                    <a:solidFill>
                      <a:srgbClr val="27252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Offer teenagers and students flexible paid (or volunteer) work opportunities close to their homes.</a:t>
                </a:r>
                <a:endParaRPr b="0" i="0" sz="1400" u="none" cap="none" strike="noStrike"/>
              </a:p>
            </p:txBody>
          </p:sp>
        </p:grpSp>
      </p:grpSp>
      <p:grpSp>
        <p:nvGrpSpPr>
          <p:cNvPr id="98" name="Google Shape;98;p3"/>
          <p:cNvGrpSpPr/>
          <p:nvPr/>
        </p:nvGrpSpPr>
        <p:grpSpPr>
          <a:xfrm>
            <a:off x="6108686" y="1885946"/>
            <a:ext cx="8019188" cy="1099500"/>
            <a:chOff x="5979823" y="1885946"/>
            <a:chExt cx="8019188" cy="1099500"/>
          </a:xfrm>
        </p:grpSpPr>
        <p:sp>
          <p:nvSpPr>
            <p:cNvPr id="99" name="Google Shape;99;p3"/>
            <p:cNvSpPr/>
            <p:nvPr/>
          </p:nvSpPr>
          <p:spPr>
            <a:xfrm>
              <a:off x="6002683" y="1885946"/>
              <a:ext cx="7842900" cy="1099500"/>
            </a:xfrm>
            <a:prstGeom prst="roundRect">
              <a:avLst>
                <a:gd fmla="val 9979" name="adj"/>
              </a:avLst>
            </a:prstGeom>
            <a:solidFill>
              <a:srgbClr val="FFFFFF">
                <a:alpha val="94900"/>
              </a:srgbClr>
            </a:solidFill>
            <a:ln cap="flat" cmpd="sng" w="22850">
              <a:solidFill>
                <a:srgbClr val="D6BA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" name="Google Shape;100;p3"/>
            <p:cNvGrpSpPr/>
            <p:nvPr/>
          </p:nvGrpSpPr>
          <p:grpSpPr>
            <a:xfrm>
              <a:off x="6117788" y="1973937"/>
              <a:ext cx="7881223" cy="662107"/>
              <a:chOff x="6117788" y="1973937"/>
              <a:chExt cx="7881223" cy="662107"/>
            </a:xfrm>
          </p:grpSpPr>
          <p:sp>
            <p:nvSpPr>
              <p:cNvPr id="101" name="Google Shape;101;p3"/>
              <p:cNvSpPr/>
              <p:nvPr/>
            </p:nvSpPr>
            <p:spPr>
              <a:xfrm>
                <a:off x="6117788" y="1973937"/>
                <a:ext cx="2122646" cy="265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424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2525"/>
                  </a:buClr>
                  <a:buSzPts val="1650"/>
                  <a:buFont typeface="Source Serif 4 SemiBold"/>
                  <a:buNone/>
                </a:pPr>
                <a:r>
                  <a:rPr b="1" i="0" lang="en-US" sz="1650" u="none" cap="none" strike="noStrike">
                    <a:solidFill>
                      <a:srgbClr val="272525"/>
                    </a:solidFill>
                    <a:latin typeface="Source Serif 4 SemiBold"/>
                    <a:ea typeface="Source Serif 4 SemiBold"/>
                    <a:cs typeface="Source Serif 4 SemiBold"/>
                    <a:sym typeface="Source Serif 4 SemiBold"/>
                  </a:rPr>
                  <a:t>Easy &amp; Safe Care</a:t>
                </a:r>
                <a:endParaRPr b="0" i="0" sz="1650" u="none" cap="none" strike="noStrike"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6117788" y="2347436"/>
                <a:ext cx="7881223" cy="2886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607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2525"/>
                  </a:buClr>
                  <a:buSzPts val="1400"/>
                  <a:buFont typeface="Source Sans 3"/>
                  <a:buNone/>
                </a:pPr>
                <a:r>
                  <a:rPr b="0" i="0" lang="en-US" sz="1400" u="none" cap="none" strike="noStrike">
                    <a:solidFill>
                      <a:srgbClr val="27252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Provide owners with a trusted platform to find reliable help for their beloved pets and plants.</a:t>
                </a:r>
                <a:endParaRPr b="0" i="0" sz="1400" u="none" cap="none" strike="noStrike"/>
              </a:p>
            </p:txBody>
          </p:sp>
        </p:grpSp>
        <p:sp>
          <p:nvSpPr>
            <p:cNvPr id="103" name="Google Shape;103;p3"/>
            <p:cNvSpPr/>
            <p:nvPr/>
          </p:nvSpPr>
          <p:spPr>
            <a:xfrm>
              <a:off x="5979823" y="1885946"/>
              <a:ext cx="91500" cy="1099500"/>
            </a:xfrm>
            <a:prstGeom prst="roundRect">
              <a:avLst>
                <a:gd fmla="val 85387" name="adj"/>
              </a:avLst>
            </a:prstGeom>
            <a:solidFill>
              <a:srgbClr val="BE4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" name="Google Shape;104;p3"/>
          <p:cNvGrpSpPr/>
          <p:nvPr/>
        </p:nvGrpSpPr>
        <p:grpSpPr>
          <a:xfrm>
            <a:off x="6114348" y="6055596"/>
            <a:ext cx="8007840" cy="1099500"/>
            <a:chOff x="5991248" y="5499671"/>
            <a:chExt cx="8007840" cy="1099500"/>
          </a:xfrm>
        </p:grpSpPr>
        <p:sp>
          <p:nvSpPr>
            <p:cNvPr id="105" name="Google Shape;105;p3"/>
            <p:cNvSpPr/>
            <p:nvPr/>
          </p:nvSpPr>
          <p:spPr>
            <a:xfrm>
              <a:off x="6014108" y="5499671"/>
              <a:ext cx="7842900" cy="1099500"/>
            </a:xfrm>
            <a:prstGeom prst="roundRect">
              <a:avLst>
                <a:gd fmla="val 9979" name="adj"/>
              </a:avLst>
            </a:prstGeom>
            <a:solidFill>
              <a:srgbClr val="FFFFFF">
                <a:alpha val="94900"/>
              </a:srgbClr>
            </a:solidFill>
            <a:ln cap="flat" cmpd="sng" w="22850">
              <a:solidFill>
                <a:srgbClr val="D6BA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991248" y="5499671"/>
              <a:ext cx="91500" cy="1099500"/>
            </a:xfrm>
            <a:prstGeom prst="roundRect">
              <a:avLst>
                <a:gd fmla="val 85387" name="adj"/>
              </a:avLst>
            </a:prstGeom>
            <a:solidFill>
              <a:srgbClr val="BE4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7" name="Google Shape;107;p3"/>
            <p:cNvGrpSpPr/>
            <p:nvPr/>
          </p:nvGrpSpPr>
          <p:grpSpPr>
            <a:xfrm>
              <a:off x="6117788" y="5718375"/>
              <a:ext cx="7881300" cy="662098"/>
              <a:chOff x="6117788" y="7290750"/>
              <a:chExt cx="7881300" cy="662098"/>
            </a:xfrm>
          </p:grpSpPr>
          <p:sp>
            <p:nvSpPr>
              <p:cNvPr id="108" name="Google Shape;108;p3"/>
              <p:cNvSpPr/>
              <p:nvPr/>
            </p:nvSpPr>
            <p:spPr>
              <a:xfrm>
                <a:off x="6117801" y="7290750"/>
                <a:ext cx="2436600" cy="26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424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2525"/>
                  </a:buClr>
                  <a:buSzPts val="1650"/>
                  <a:buFont typeface="Source Serif 4 SemiBold"/>
                  <a:buNone/>
                </a:pPr>
                <a:r>
                  <a:rPr b="1" i="0" lang="en-US" sz="1650" u="none" cap="none" strike="noStrike">
                    <a:solidFill>
                      <a:srgbClr val="272525"/>
                    </a:solidFill>
                    <a:latin typeface="Source Serif 4 SemiBold"/>
                    <a:ea typeface="Source Serif 4 SemiBold"/>
                    <a:cs typeface="Source Serif 4 SemiBold"/>
                    <a:sym typeface="Source Serif 4 SemiBold"/>
                  </a:rPr>
                  <a:t>Community Building</a:t>
                </a:r>
                <a:endParaRPr b="0" i="0" sz="1650" u="none" cap="none" strike="noStrike"/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>
                <a:off x="6117788" y="7664248"/>
                <a:ext cx="7881300" cy="28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607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2525"/>
                  </a:buClr>
                  <a:buSzPts val="1400"/>
                  <a:buFont typeface="Source Sans 3"/>
                  <a:buNone/>
                </a:pPr>
                <a:r>
                  <a:rPr b="0" i="0" lang="en-US" sz="1400" u="none" cap="none" strike="noStrike">
                    <a:solidFill>
                      <a:srgbClr val="27252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Foster stronger local community ties through shared responsibility for pet and plant welfare.</a:t>
                </a:r>
                <a:endParaRPr b="0" i="0" sz="1400" u="none" cap="none" strike="noStrike"/>
              </a:p>
            </p:txBody>
          </p:sp>
        </p:grpSp>
      </p:grpSp>
      <p:grpSp>
        <p:nvGrpSpPr>
          <p:cNvPr id="110" name="Google Shape;110;p3"/>
          <p:cNvGrpSpPr/>
          <p:nvPr/>
        </p:nvGrpSpPr>
        <p:grpSpPr>
          <a:xfrm>
            <a:off x="6117798" y="4665709"/>
            <a:ext cx="8000940" cy="1099513"/>
            <a:chOff x="6200273" y="4665709"/>
            <a:chExt cx="8000940" cy="1099513"/>
          </a:xfrm>
        </p:grpSpPr>
        <p:sp>
          <p:nvSpPr>
            <p:cNvPr id="111" name="Google Shape;111;p3"/>
            <p:cNvSpPr/>
            <p:nvPr/>
          </p:nvSpPr>
          <p:spPr>
            <a:xfrm>
              <a:off x="6200283" y="4665709"/>
              <a:ext cx="7842900" cy="1099500"/>
            </a:xfrm>
            <a:prstGeom prst="roundRect">
              <a:avLst>
                <a:gd fmla="val 9979" name="adj"/>
              </a:avLst>
            </a:prstGeom>
            <a:solidFill>
              <a:srgbClr val="FFFFFF">
                <a:alpha val="94900"/>
              </a:srgbClr>
            </a:solidFill>
            <a:ln cap="flat" cmpd="sng" w="22850">
              <a:solidFill>
                <a:srgbClr val="D6BA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" name="Google Shape;112;p3"/>
            <p:cNvGrpSpPr/>
            <p:nvPr/>
          </p:nvGrpSpPr>
          <p:grpSpPr>
            <a:xfrm>
              <a:off x="6319913" y="4884420"/>
              <a:ext cx="7881300" cy="662099"/>
              <a:chOff x="6193363" y="5639895"/>
              <a:chExt cx="7881300" cy="662099"/>
            </a:xfrm>
          </p:grpSpPr>
          <p:sp>
            <p:nvSpPr>
              <p:cNvPr id="113" name="Google Shape;113;p3"/>
              <p:cNvSpPr/>
              <p:nvPr/>
            </p:nvSpPr>
            <p:spPr>
              <a:xfrm>
                <a:off x="6193363" y="5639895"/>
                <a:ext cx="2122500" cy="26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424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2525"/>
                  </a:buClr>
                  <a:buSzPts val="1650"/>
                  <a:buFont typeface="Source Serif 4 SemiBold"/>
                  <a:buNone/>
                </a:pPr>
                <a:r>
                  <a:rPr b="1" i="0" lang="en-US" sz="1650" u="none" cap="none" strike="noStrike">
                    <a:solidFill>
                      <a:srgbClr val="272525"/>
                    </a:solidFill>
                    <a:latin typeface="Source Serif 4 SemiBold"/>
                    <a:ea typeface="Source Serif 4 SemiBold"/>
                    <a:cs typeface="Source Serif 4 SemiBold"/>
                    <a:sym typeface="Source Serif 4 SemiBold"/>
                  </a:rPr>
                  <a:t>Reduced Stress</a:t>
                </a:r>
                <a:endParaRPr b="0" i="0" sz="1650" u="none" cap="none" strike="noStrike"/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6193363" y="6013394"/>
                <a:ext cx="7881300" cy="28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607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2525"/>
                  </a:buClr>
                  <a:buSzPts val="1400"/>
                  <a:buFont typeface="Source Sans 3"/>
                  <a:buNone/>
                </a:pPr>
                <a:r>
                  <a:rPr b="0" i="0" lang="en-US" sz="1400" u="none" cap="none" strike="noStrike">
                    <a:solidFill>
                      <a:srgbClr val="27252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Alleviate owners' concerns about their pets and plants when they are away or busy.</a:t>
                </a:r>
                <a:endParaRPr b="0" i="0" sz="1400" u="none" cap="none" strike="noStrike"/>
              </a:p>
            </p:txBody>
          </p:sp>
        </p:grpSp>
        <p:sp>
          <p:nvSpPr>
            <p:cNvPr id="115" name="Google Shape;115;p3"/>
            <p:cNvSpPr/>
            <p:nvPr/>
          </p:nvSpPr>
          <p:spPr>
            <a:xfrm>
              <a:off x="6200273" y="4665721"/>
              <a:ext cx="91500" cy="1099500"/>
            </a:xfrm>
            <a:prstGeom prst="roundRect">
              <a:avLst>
                <a:gd fmla="val 85387" name="adj"/>
              </a:avLst>
            </a:prstGeom>
            <a:solidFill>
              <a:srgbClr val="BE4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6172438" y="665440"/>
            <a:ext cx="7771924" cy="1153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Source Serif 4 SemiBold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Livin's Innovation: What Makes Us Unique?</a:t>
            </a:r>
            <a:endParaRPr b="0" i="0" sz="3600" u="none" cap="none" strike="noStrike"/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438" y="2112407"/>
            <a:ext cx="980122" cy="98024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7348551" y="2086924"/>
            <a:ext cx="27327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Source Serif 4 SemiBold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Unified Care Platform</a:t>
            </a:r>
            <a:endParaRPr b="0" i="0" sz="1800" u="none" cap="none" strike="noStrike"/>
          </a:p>
        </p:txBody>
      </p:sp>
      <p:sp>
        <p:nvSpPr>
          <p:cNvPr id="125" name="Google Shape;125;p4"/>
          <p:cNvSpPr/>
          <p:nvPr/>
        </p:nvSpPr>
        <p:spPr>
          <a:xfrm>
            <a:off x="7348538" y="2518172"/>
            <a:ext cx="6595824" cy="313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Combines pets, plants, and even stray animal care in one seamless application.</a:t>
            </a:r>
            <a:endParaRPr b="0" i="0" sz="1500" u="none" cap="none" strike="noStrike"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438" y="3288625"/>
            <a:ext cx="980122" cy="122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7348552" y="3288625"/>
            <a:ext cx="26421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Source Serif 4 SemiBold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Youth-Centric Model</a:t>
            </a:r>
            <a:endParaRPr b="0" i="0" sz="1800" u="none" cap="none" strike="noStrike"/>
          </a:p>
        </p:txBody>
      </p:sp>
      <p:sp>
        <p:nvSpPr>
          <p:cNvPr id="128" name="Google Shape;128;p4"/>
          <p:cNvSpPr/>
          <p:nvPr/>
        </p:nvSpPr>
        <p:spPr>
          <a:xfrm>
            <a:off x="7348538" y="3694390"/>
            <a:ext cx="6595824" cy="62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Empowers young helpers as the primary care providers, fostering responsibility and skill development.</a:t>
            </a:r>
            <a:endParaRPr b="0" i="0" sz="1500" u="none" cap="none" strike="noStrike"/>
          </a:p>
        </p:txBody>
      </p:sp>
      <p:pic>
        <p:nvPicPr>
          <p:cNvPr descr="preencoded.png" id="129" name="Google Shape;12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438" y="4713803"/>
            <a:ext cx="980122" cy="122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7348538" y="4713803"/>
            <a:ext cx="2306360" cy="28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Source Serif 4 SemiBold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Intuitive Matching</a:t>
            </a:r>
            <a:endParaRPr b="0" i="0" sz="180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7348538" y="5119568"/>
            <a:ext cx="6595824" cy="62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Features a "dating app"-inspired flow: initial match, temporary 24-hour chat, and final confirmation.</a:t>
            </a:r>
            <a:endParaRPr b="0" i="0" sz="1500" u="none" cap="none" strike="noStrike"/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438" y="6138982"/>
            <a:ext cx="980122" cy="122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7348551" y="6138976"/>
            <a:ext cx="2566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Source Serif 4 SemiBold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Robust Trust System</a:t>
            </a:r>
            <a:endParaRPr b="0" i="0" sz="1800" u="none" cap="none" strike="noStrike"/>
          </a:p>
        </p:txBody>
      </p:sp>
      <p:sp>
        <p:nvSpPr>
          <p:cNvPr id="134" name="Google Shape;134;p4"/>
          <p:cNvSpPr/>
          <p:nvPr/>
        </p:nvSpPr>
        <p:spPr>
          <a:xfrm>
            <a:off x="7348538" y="6544747"/>
            <a:ext cx="6595824" cy="62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Includes comprehensive ratings, reviews, reporting, and admin moderation for enhanced safety and reliability.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6122670" y="642580"/>
            <a:ext cx="7871460" cy="1069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Source Serif 4 SemiBold"/>
              <a:buNone/>
            </a:pPr>
            <a:r>
              <a:rPr b="1" i="0" lang="en-US" sz="335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Brief Literature Review: Supporting Our Vision</a:t>
            </a:r>
            <a:endParaRPr b="0" i="0" sz="3350" u="none" cap="none" strike="noStrike"/>
          </a:p>
        </p:txBody>
      </p:sp>
      <p:grpSp>
        <p:nvGrpSpPr>
          <p:cNvPr id="142" name="Google Shape;142;p5"/>
          <p:cNvGrpSpPr/>
          <p:nvPr/>
        </p:nvGrpSpPr>
        <p:grpSpPr>
          <a:xfrm>
            <a:off x="6048025" y="3687533"/>
            <a:ext cx="7842908" cy="1099504"/>
            <a:chOff x="6048025" y="3634784"/>
            <a:chExt cx="7842908" cy="1099504"/>
          </a:xfrm>
        </p:grpSpPr>
        <p:sp>
          <p:nvSpPr>
            <p:cNvPr id="143" name="Google Shape;143;p5"/>
            <p:cNvSpPr/>
            <p:nvPr/>
          </p:nvSpPr>
          <p:spPr>
            <a:xfrm>
              <a:off x="6048033" y="3634784"/>
              <a:ext cx="7842900" cy="1099500"/>
            </a:xfrm>
            <a:prstGeom prst="roundRect">
              <a:avLst>
                <a:gd fmla="val 9979" name="adj"/>
              </a:avLst>
            </a:prstGeom>
            <a:solidFill>
              <a:srgbClr val="FFFFFF">
                <a:alpha val="94900"/>
              </a:srgbClr>
            </a:solidFill>
            <a:ln cap="flat" cmpd="sng" w="22850">
              <a:solidFill>
                <a:srgbClr val="D6BA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6048025" y="3634788"/>
              <a:ext cx="74700" cy="1099500"/>
            </a:xfrm>
            <a:prstGeom prst="roundRect">
              <a:avLst>
                <a:gd fmla="val 50000" name="adj"/>
              </a:avLst>
            </a:prstGeom>
            <a:solidFill>
              <a:srgbClr val="BE4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6312098" y="3692843"/>
              <a:ext cx="2223135" cy="267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72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650"/>
                <a:buFont typeface="Source Serif 4 SemiBold"/>
                <a:buNone/>
              </a:pPr>
              <a:r>
                <a:rPr b="1" i="0" lang="en-US" sz="1650" u="none" cap="none" strike="noStrike">
                  <a:solidFill>
                    <a:srgbClr val="272525"/>
                  </a:solidFill>
                  <a:latin typeface="Source Serif 4 SemiBold"/>
                  <a:ea typeface="Source Serif 4 SemiBold"/>
                  <a:cs typeface="Source Serif 4 SemiBold"/>
                  <a:sym typeface="Source Serif 4 SemiBold"/>
                </a:rPr>
                <a:t>"Green Care" Benefits</a:t>
              </a:r>
              <a:endParaRPr b="0" i="0" sz="1650" u="none" cap="none" strike="noStrike"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6312098" y="4069199"/>
              <a:ext cx="7492603" cy="5817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BE49DF"/>
                </a:buClr>
                <a:buSzPts val="1400"/>
                <a:buFont typeface="Source Sans 3"/>
                <a:buNone/>
              </a:pPr>
              <a:r>
                <a:rPr b="0" i="0" lang="en-US" sz="1400" u="none" cap="none" strike="noStrike">
                  <a:solidFill>
                    <a:srgbClr val="BE49D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Galardi et al. (2021):</a:t>
              </a:r>
              <a:r>
                <a:rPr b="0" i="0" lang="en-US" sz="1400" u="none" cap="none" strike="noStrike">
                  <a:solidFill>
                    <a:srgbClr val="27252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Highlights the psychological and social benefits of combining animal and plant care activities.</a:t>
              </a:r>
              <a:endParaRPr b="0" i="0" sz="1400" u="none" cap="none" strike="noStrike"/>
            </a:p>
          </p:txBody>
        </p:sp>
      </p:grpSp>
      <p:grpSp>
        <p:nvGrpSpPr>
          <p:cNvPr id="147" name="Google Shape;147;p5"/>
          <p:cNvGrpSpPr/>
          <p:nvPr/>
        </p:nvGrpSpPr>
        <p:grpSpPr>
          <a:xfrm>
            <a:off x="6048025" y="5078508"/>
            <a:ext cx="7842908" cy="1099504"/>
            <a:chOff x="6048025" y="4942434"/>
            <a:chExt cx="7842908" cy="1099504"/>
          </a:xfrm>
        </p:grpSpPr>
        <p:sp>
          <p:nvSpPr>
            <p:cNvPr id="148" name="Google Shape;148;p5"/>
            <p:cNvSpPr/>
            <p:nvPr/>
          </p:nvSpPr>
          <p:spPr>
            <a:xfrm>
              <a:off x="6048033" y="4942434"/>
              <a:ext cx="7842900" cy="1099500"/>
            </a:xfrm>
            <a:prstGeom prst="roundRect">
              <a:avLst>
                <a:gd fmla="val 9979" name="adj"/>
              </a:avLst>
            </a:prstGeom>
            <a:solidFill>
              <a:srgbClr val="FFFFFF">
                <a:alpha val="94900"/>
              </a:srgbClr>
            </a:solidFill>
            <a:ln cap="flat" cmpd="sng" w="22850">
              <a:solidFill>
                <a:srgbClr val="D6BA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6048025" y="4942438"/>
              <a:ext cx="74700" cy="1099500"/>
            </a:xfrm>
            <a:prstGeom prst="roundRect">
              <a:avLst>
                <a:gd fmla="val 50000" name="adj"/>
              </a:avLst>
            </a:prstGeom>
            <a:solidFill>
              <a:srgbClr val="BE4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6312098" y="5211604"/>
              <a:ext cx="2659380" cy="267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72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650"/>
                <a:buFont typeface="Source Serif 4 SemiBold"/>
                <a:buNone/>
              </a:pPr>
              <a:r>
                <a:rPr b="1" i="0" lang="en-US" sz="1650" u="none" cap="none" strike="noStrike">
                  <a:solidFill>
                    <a:srgbClr val="272525"/>
                  </a:solidFill>
                  <a:latin typeface="Source Serif 4 SemiBold"/>
                  <a:ea typeface="Source Serif 4 SemiBold"/>
                  <a:cs typeface="Source Serif 4 SemiBold"/>
                  <a:sym typeface="Source Serif 4 SemiBold"/>
                </a:rPr>
                <a:t>Youth in the Gig Economy</a:t>
              </a:r>
              <a:endParaRPr b="0" i="0" sz="1650" u="none" cap="none" strike="noStrike"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6312098" y="5587960"/>
              <a:ext cx="7492603" cy="2908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BE49DF"/>
                </a:buClr>
                <a:buSzPts val="1400"/>
                <a:buFont typeface="Source Sans 3"/>
                <a:buNone/>
              </a:pPr>
              <a:r>
                <a:rPr b="0" i="0" lang="en-US" sz="1400" u="none" cap="none" strike="noStrike">
                  <a:solidFill>
                    <a:srgbClr val="BE49D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World Bank (2023):</a:t>
              </a:r>
              <a:r>
                <a:rPr b="0" i="0" lang="en-US" sz="1400" u="none" cap="none" strike="noStrike">
                  <a:solidFill>
                    <a:srgbClr val="27252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Over 50% of online gig workers are under 30, valuing flexibility above all else.</a:t>
              </a:r>
              <a:endParaRPr b="0" i="0" sz="1400" u="none" cap="none" strike="noStrike"/>
            </a:p>
          </p:txBody>
        </p:sp>
      </p:grpSp>
      <p:grpSp>
        <p:nvGrpSpPr>
          <p:cNvPr id="152" name="Google Shape;152;p5"/>
          <p:cNvGrpSpPr/>
          <p:nvPr/>
        </p:nvGrpSpPr>
        <p:grpSpPr>
          <a:xfrm>
            <a:off x="6048025" y="6469471"/>
            <a:ext cx="7842908" cy="1099504"/>
            <a:chOff x="6048025" y="6333396"/>
            <a:chExt cx="7842908" cy="1099504"/>
          </a:xfrm>
        </p:grpSpPr>
        <p:sp>
          <p:nvSpPr>
            <p:cNvPr id="153" name="Google Shape;153;p5"/>
            <p:cNvSpPr/>
            <p:nvPr/>
          </p:nvSpPr>
          <p:spPr>
            <a:xfrm>
              <a:off x="6048033" y="6333396"/>
              <a:ext cx="7842900" cy="1099500"/>
            </a:xfrm>
            <a:prstGeom prst="roundRect">
              <a:avLst>
                <a:gd fmla="val 9979" name="adj"/>
              </a:avLst>
            </a:prstGeom>
            <a:solidFill>
              <a:srgbClr val="FFFFFF">
                <a:alpha val="94900"/>
              </a:srgbClr>
            </a:solidFill>
            <a:ln cap="flat" cmpd="sng" w="22850">
              <a:solidFill>
                <a:srgbClr val="D6BA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6048025" y="6333400"/>
              <a:ext cx="74700" cy="1099500"/>
            </a:xfrm>
            <a:prstGeom prst="roundRect">
              <a:avLst>
                <a:gd fmla="val 50000" name="adj"/>
              </a:avLst>
            </a:prstGeom>
            <a:solidFill>
              <a:srgbClr val="BE4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6312098" y="6439495"/>
              <a:ext cx="2138839" cy="267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72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650"/>
                <a:buFont typeface="Source Serif 4 SemiBold"/>
                <a:buNone/>
              </a:pPr>
              <a:r>
                <a:rPr b="1" i="0" lang="en-US" sz="1650" u="none" cap="none" strike="noStrike">
                  <a:solidFill>
                    <a:srgbClr val="272525"/>
                  </a:solidFill>
                  <a:latin typeface="Source Serif 4 SemiBold"/>
                  <a:ea typeface="Source Serif 4 SemiBold"/>
                  <a:cs typeface="Source Serif 4 SemiBold"/>
                  <a:sym typeface="Source Serif 4 SemiBold"/>
                </a:rPr>
                <a:t>Conclusion</a:t>
              </a:r>
              <a:endParaRPr b="0" i="0" sz="1650" u="none" cap="none" strike="noStrike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6312098" y="6815852"/>
              <a:ext cx="7492603" cy="5817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00"/>
                <a:buFont typeface="Source Sans 3"/>
                <a:buNone/>
              </a:pPr>
              <a:r>
                <a:rPr b="0" i="0" lang="en-US" sz="1400" u="none" cap="none" strike="noStrike">
                  <a:solidFill>
                    <a:srgbClr val="27252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Research strongly supports a youth-driven, local, care-based gig platform like Livin, addressing modern needs.</a:t>
              </a:r>
              <a:endParaRPr b="0" i="0" sz="1400" u="none" cap="none" strike="noStrike"/>
            </a:p>
          </p:txBody>
        </p:sp>
      </p:grpSp>
      <p:grpSp>
        <p:nvGrpSpPr>
          <p:cNvPr id="157" name="Google Shape;157;p5"/>
          <p:cNvGrpSpPr/>
          <p:nvPr/>
        </p:nvGrpSpPr>
        <p:grpSpPr>
          <a:xfrm>
            <a:off x="6048025" y="2222646"/>
            <a:ext cx="7842908" cy="1099504"/>
            <a:chOff x="6048025" y="2057971"/>
            <a:chExt cx="7842908" cy="1099504"/>
          </a:xfrm>
        </p:grpSpPr>
        <p:sp>
          <p:nvSpPr>
            <p:cNvPr id="158" name="Google Shape;158;p5"/>
            <p:cNvSpPr/>
            <p:nvPr/>
          </p:nvSpPr>
          <p:spPr>
            <a:xfrm>
              <a:off x="6048033" y="2057971"/>
              <a:ext cx="7842900" cy="1099500"/>
            </a:xfrm>
            <a:prstGeom prst="roundRect">
              <a:avLst>
                <a:gd fmla="val 9979" name="adj"/>
              </a:avLst>
            </a:prstGeom>
            <a:solidFill>
              <a:srgbClr val="FFFFFF">
                <a:alpha val="94900"/>
              </a:srgbClr>
            </a:solidFill>
            <a:ln cap="flat" cmpd="sng" w="22850">
              <a:solidFill>
                <a:srgbClr val="D6BA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6312098" y="2174081"/>
              <a:ext cx="3229808" cy="267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72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650"/>
                <a:buFont typeface="Source Serif 4 SemiBold"/>
                <a:buNone/>
              </a:pPr>
              <a:r>
                <a:rPr b="1" i="0" lang="en-US" sz="1650" u="none" cap="none" strike="noStrike">
                  <a:solidFill>
                    <a:srgbClr val="272525"/>
                  </a:solidFill>
                  <a:latin typeface="Source Serif 4 SemiBold"/>
                  <a:ea typeface="Source Serif 4 SemiBold"/>
                  <a:cs typeface="Source Serif 4 SemiBold"/>
                  <a:sym typeface="Source Serif 4 SemiBold"/>
                </a:rPr>
                <a:t>Gig Work &amp; Youth Development</a:t>
              </a:r>
              <a:endParaRPr b="0" i="0" sz="1650" u="none" cap="none" strike="noStrike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6312098" y="2550438"/>
              <a:ext cx="7492603" cy="5817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BE49DF"/>
                </a:buClr>
                <a:buSzPts val="1400"/>
                <a:buFont typeface="Source Sans 3"/>
                <a:buNone/>
              </a:pPr>
              <a:r>
                <a:rPr b="0" i="0" lang="en-US" sz="1400" u="none" cap="none" strike="noStrike">
                  <a:solidFill>
                    <a:srgbClr val="BE49D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Alshebami (2025):</a:t>
              </a:r>
              <a:r>
                <a:rPr b="0" i="0" lang="en-US" sz="1400" u="none" cap="none" strike="noStrike">
                  <a:solidFill>
                    <a:srgbClr val="27252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Gig economy participation aids youth in skill-building, income generation, and community engagement.</a:t>
              </a:r>
              <a:endParaRPr b="0" i="0" sz="1400" u="none" cap="none" strike="noStrike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048025" y="2057975"/>
              <a:ext cx="74700" cy="1099500"/>
            </a:xfrm>
            <a:prstGeom prst="roundRect">
              <a:avLst>
                <a:gd fmla="val 50000" name="adj"/>
              </a:avLst>
            </a:prstGeom>
            <a:solidFill>
              <a:srgbClr val="BE4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837725" y="1640675"/>
            <a:ext cx="110427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 SemiBold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Competitor Review: Identifying the Gap</a:t>
            </a:r>
            <a:endParaRPr b="0" i="0" sz="4400" u="none" cap="none" strike="noStrike"/>
          </a:p>
        </p:txBody>
      </p:sp>
      <p:sp>
        <p:nvSpPr>
          <p:cNvPr id="168" name="Google Shape;168;p6"/>
          <p:cNvSpPr/>
          <p:nvPr/>
        </p:nvSpPr>
        <p:spPr>
          <a:xfrm>
            <a:off x="837724" y="2823329"/>
            <a:ext cx="12954952" cy="3765709"/>
          </a:xfrm>
          <a:prstGeom prst="roundRect">
            <a:avLst>
              <a:gd fmla="val 267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845344" y="2830949"/>
            <a:ext cx="12939713" cy="100631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1084778" y="2982158"/>
            <a:ext cx="3787616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Pet Care Apps (e.g., Rover, Wag!)</a:t>
            </a:r>
            <a:endParaRPr b="0" i="0" sz="2200" u="none" cap="none" strike="noStrike"/>
          </a:p>
        </p:txBody>
      </p:sp>
      <p:sp>
        <p:nvSpPr>
          <p:cNvPr id="171" name="Google Shape;171;p6"/>
          <p:cNvSpPr/>
          <p:nvPr/>
        </p:nvSpPr>
        <p:spPr>
          <a:xfrm>
            <a:off x="5358646" y="2982158"/>
            <a:ext cx="3783806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Plant Care Apps (e.g., Planta)</a:t>
            </a:r>
            <a:endParaRPr b="0" i="0" sz="2200" u="none" cap="none" strike="noStrike"/>
          </a:p>
        </p:txBody>
      </p:sp>
      <p:sp>
        <p:nvSpPr>
          <p:cNvPr id="172" name="Google Shape;172;p6"/>
          <p:cNvSpPr/>
          <p:nvPr/>
        </p:nvSpPr>
        <p:spPr>
          <a:xfrm>
            <a:off x="9628703" y="2982158"/>
            <a:ext cx="310538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Livin's Unique Position</a:t>
            </a:r>
            <a:endParaRPr b="0" i="0" sz="2200" u="none" cap="none" strike="noStrike"/>
          </a:p>
        </p:txBody>
      </p:sp>
      <p:sp>
        <p:nvSpPr>
          <p:cNvPr id="173" name="Google Shape;173;p6"/>
          <p:cNvSpPr/>
          <p:nvPr/>
        </p:nvSpPr>
        <p:spPr>
          <a:xfrm>
            <a:off x="845344" y="3837265"/>
            <a:ext cx="12939713" cy="274415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1084778" y="3988475"/>
            <a:ext cx="3787616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BE49D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Pros:</a:t>
            </a: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Geolocation, reviews, secure payments</a:t>
            </a:r>
            <a:endParaRPr b="0" i="0" sz="1850" u="none" cap="none" strike="noStrike"/>
          </a:p>
        </p:txBody>
      </p:sp>
      <p:sp>
        <p:nvSpPr>
          <p:cNvPr id="175" name="Google Shape;175;p6"/>
          <p:cNvSpPr/>
          <p:nvPr/>
        </p:nvSpPr>
        <p:spPr>
          <a:xfrm>
            <a:off x="1084778" y="4826318"/>
            <a:ext cx="3787616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BE49D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Cons:</a:t>
            </a: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Mostly adult sitters, no plant care, not youth-focused</a:t>
            </a:r>
            <a:endParaRPr b="0" i="0" sz="1850" u="none" cap="none" strike="noStrike"/>
          </a:p>
        </p:txBody>
      </p:sp>
      <p:sp>
        <p:nvSpPr>
          <p:cNvPr id="176" name="Google Shape;176;p6"/>
          <p:cNvSpPr/>
          <p:nvPr/>
        </p:nvSpPr>
        <p:spPr>
          <a:xfrm>
            <a:off x="5358646" y="3988475"/>
            <a:ext cx="3783806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BE49D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Pros:</a:t>
            </a: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Reminders, AI diagnosis, care guides</a:t>
            </a:r>
            <a:endParaRPr b="0" i="0" sz="1850" u="none" cap="none" strike="noStrike"/>
          </a:p>
        </p:txBody>
      </p:sp>
      <p:sp>
        <p:nvSpPr>
          <p:cNvPr id="177" name="Google Shape;177;p6"/>
          <p:cNvSpPr/>
          <p:nvPr/>
        </p:nvSpPr>
        <p:spPr>
          <a:xfrm>
            <a:off x="5358646" y="4826318"/>
            <a:ext cx="3783806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BE49D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Cons:</a:t>
            </a: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No marketplace for human sitters or temporary care</a:t>
            </a:r>
            <a:endParaRPr b="0" i="0" sz="1850" u="none" cap="none" strike="noStrike"/>
          </a:p>
        </p:txBody>
      </p:sp>
      <p:sp>
        <p:nvSpPr>
          <p:cNvPr id="178" name="Google Shape;178;p6"/>
          <p:cNvSpPr/>
          <p:nvPr/>
        </p:nvSpPr>
        <p:spPr>
          <a:xfrm>
            <a:off x="9628703" y="3988475"/>
            <a:ext cx="391703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Combines </a:t>
            </a:r>
            <a:r>
              <a:rPr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pets + plants</a:t>
            </a:r>
            <a:endParaRPr b="0" i="0" sz="1850" u="none" cap="none" strike="noStrike"/>
          </a:p>
        </p:txBody>
      </p:sp>
      <p:sp>
        <p:nvSpPr>
          <p:cNvPr id="179" name="Google Shape;179;p6"/>
          <p:cNvSpPr/>
          <p:nvPr/>
        </p:nvSpPr>
        <p:spPr>
          <a:xfrm>
            <a:off x="9628703" y="4443293"/>
            <a:ext cx="391703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Focus on </a:t>
            </a:r>
            <a:r>
              <a:rPr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youth helpers</a:t>
            </a:r>
            <a:endParaRPr b="0" i="0" sz="1850" u="none" cap="none" strike="noStrike"/>
          </a:p>
        </p:txBody>
      </p:sp>
      <p:sp>
        <p:nvSpPr>
          <p:cNvPr id="180" name="Google Shape;180;p6"/>
          <p:cNvSpPr/>
          <p:nvPr/>
        </p:nvSpPr>
        <p:spPr>
          <a:xfrm>
            <a:off x="9628703" y="4898112"/>
            <a:ext cx="391703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Features </a:t>
            </a:r>
            <a:r>
              <a:rPr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staged trust-building </a:t>
            </a: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mechanisms</a:t>
            </a:r>
            <a:endParaRPr b="0" i="0" sz="1850" u="none" cap="none" strike="noStrike"/>
          </a:p>
        </p:txBody>
      </p:sp>
      <p:sp>
        <p:nvSpPr>
          <p:cNvPr id="181" name="Google Shape;181;p6"/>
          <p:cNvSpPr/>
          <p:nvPr/>
        </p:nvSpPr>
        <p:spPr>
          <a:xfrm>
            <a:off x="9628703" y="5735955"/>
            <a:ext cx="391703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existing app</a:t>
            </a: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offers this holistic solution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779375" y="944275"/>
            <a:ext cx="122199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Source Serif 4 SemiBold"/>
              <a:buNone/>
            </a:pPr>
            <a:r>
              <a:rPr b="1" i="0" lang="en-US" sz="41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Functional Requirements: Bringing Livin to Life</a:t>
            </a:r>
            <a:endParaRPr b="0" i="0" sz="4100" u="none" cap="none" strike="noStrike"/>
          </a:p>
        </p:txBody>
      </p:sp>
      <p:sp>
        <p:nvSpPr>
          <p:cNvPr id="188" name="Google Shape;188;p7"/>
          <p:cNvSpPr/>
          <p:nvPr/>
        </p:nvSpPr>
        <p:spPr>
          <a:xfrm>
            <a:off x="779383" y="2391728"/>
            <a:ext cx="4208740" cy="2340054"/>
          </a:xfrm>
          <a:prstGeom prst="roundRect">
            <a:avLst>
              <a:gd fmla="val 6252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779383" y="2361248"/>
            <a:ext cx="4208740" cy="121920"/>
          </a:xfrm>
          <a:prstGeom prst="roundRect">
            <a:avLst>
              <a:gd fmla="val 76721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2549664" y="2057757"/>
            <a:ext cx="668060" cy="668060"/>
          </a:xfrm>
          <a:prstGeom prst="roundRect">
            <a:avLst>
              <a:gd fmla="val 13687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1032499" y="2948475"/>
            <a:ext cx="3167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 SemiBold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Universal User Features</a:t>
            </a:r>
            <a:endParaRPr b="0" i="0" sz="2050" u="none" cap="none" strike="noStrike"/>
          </a:p>
        </p:txBody>
      </p:sp>
      <p:sp>
        <p:nvSpPr>
          <p:cNvPr id="192" name="Google Shape;192;p7"/>
          <p:cNvSpPr/>
          <p:nvPr/>
        </p:nvSpPr>
        <p:spPr>
          <a:xfrm>
            <a:off x="1032510" y="3409593"/>
            <a:ext cx="3702487" cy="106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Secure registration, login, profile management, and essential notifications for all users.</a:t>
            </a:r>
            <a:endParaRPr b="0" i="0" sz="1750" u="none" cap="none" strike="noStrike"/>
          </a:p>
        </p:txBody>
      </p:sp>
      <p:sp>
        <p:nvSpPr>
          <p:cNvPr id="193" name="Google Shape;193;p7"/>
          <p:cNvSpPr/>
          <p:nvPr/>
        </p:nvSpPr>
        <p:spPr>
          <a:xfrm>
            <a:off x="5210770" y="2391728"/>
            <a:ext cx="4208740" cy="2340054"/>
          </a:xfrm>
          <a:prstGeom prst="roundRect">
            <a:avLst>
              <a:gd fmla="val 6252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5210770" y="2361248"/>
            <a:ext cx="4208740" cy="121920"/>
          </a:xfrm>
          <a:prstGeom prst="roundRect">
            <a:avLst>
              <a:gd fmla="val 76721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981051" y="2057757"/>
            <a:ext cx="668060" cy="668060"/>
          </a:xfrm>
          <a:prstGeom prst="roundRect">
            <a:avLst>
              <a:gd fmla="val 13687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463900" y="2948400"/>
            <a:ext cx="32199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 SemiBold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Owner Job Management</a:t>
            </a:r>
            <a:endParaRPr b="0" i="0" sz="2050" u="none" cap="none" strike="noStrike"/>
          </a:p>
        </p:txBody>
      </p:sp>
      <p:sp>
        <p:nvSpPr>
          <p:cNvPr id="197" name="Google Shape;197;p7"/>
          <p:cNvSpPr/>
          <p:nvPr/>
        </p:nvSpPr>
        <p:spPr>
          <a:xfrm>
            <a:off x="5463897" y="3409593"/>
            <a:ext cx="3702487" cy="106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Post detailed job requests (pets/plants, services, time, location, payment) and manage applications.</a:t>
            </a:r>
            <a:endParaRPr b="0" i="0" sz="1750" u="none" cap="none" strike="noStrike"/>
          </a:p>
        </p:txBody>
      </p:sp>
      <p:sp>
        <p:nvSpPr>
          <p:cNvPr id="198" name="Google Shape;198;p7"/>
          <p:cNvSpPr/>
          <p:nvPr/>
        </p:nvSpPr>
        <p:spPr>
          <a:xfrm>
            <a:off x="9642158" y="2391728"/>
            <a:ext cx="4208740" cy="2340054"/>
          </a:xfrm>
          <a:prstGeom prst="roundRect">
            <a:avLst>
              <a:gd fmla="val 6252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9642158" y="2361248"/>
            <a:ext cx="4208740" cy="121920"/>
          </a:xfrm>
          <a:prstGeom prst="roundRect">
            <a:avLst>
              <a:gd fmla="val 76721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11412438" y="2057757"/>
            <a:ext cx="668060" cy="668060"/>
          </a:xfrm>
          <a:prstGeom prst="roundRect">
            <a:avLst>
              <a:gd fmla="val 13687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9895284" y="2948464"/>
            <a:ext cx="2620089" cy="327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 SemiBold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Helper Job Search</a:t>
            </a:r>
            <a:endParaRPr b="0" i="0" sz="2050" u="none" cap="none" strike="noStrike"/>
          </a:p>
        </p:txBody>
      </p:sp>
      <p:sp>
        <p:nvSpPr>
          <p:cNvPr id="202" name="Google Shape;202;p7"/>
          <p:cNvSpPr/>
          <p:nvPr/>
        </p:nvSpPr>
        <p:spPr>
          <a:xfrm>
            <a:off x="9895284" y="3409593"/>
            <a:ext cx="3702487" cy="106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Helpers can efficiently search and filter jobs by distance, care type, time, and apply with ease.</a:t>
            </a:r>
            <a:endParaRPr b="0" i="0" sz="1750" u="none" cap="none" strike="noStrike"/>
          </a:p>
        </p:txBody>
      </p:sp>
      <p:sp>
        <p:nvSpPr>
          <p:cNvPr id="203" name="Google Shape;203;p7"/>
          <p:cNvSpPr/>
          <p:nvPr/>
        </p:nvSpPr>
        <p:spPr>
          <a:xfrm>
            <a:off x="779383" y="5288399"/>
            <a:ext cx="6424374" cy="1983700"/>
          </a:xfrm>
          <a:prstGeom prst="roundRect">
            <a:avLst>
              <a:gd fmla="val 7375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779383" y="5257919"/>
            <a:ext cx="6424374" cy="121920"/>
          </a:xfrm>
          <a:prstGeom prst="roundRect">
            <a:avLst>
              <a:gd fmla="val 76721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3657540" y="4954429"/>
            <a:ext cx="668060" cy="668060"/>
          </a:xfrm>
          <a:prstGeom prst="roundRect">
            <a:avLst>
              <a:gd fmla="val 13687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1032499" y="5845150"/>
            <a:ext cx="39555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 SemiBold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Matching &amp; Communication</a:t>
            </a:r>
            <a:endParaRPr b="0" i="0" sz="2050" u="none" cap="none" strike="noStrike"/>
          </a:p>
        </p:txBody>
      </p:sp>
      <p:sp>
        <p:nvSpPr>
          <p:cNvPr id="207" name="Google Shape;207;p7"/>
          <p:cNvSpPr/>
          <p:nvPr/>
        </p:nvSpPr>
        <p:spPr>
          <a:xfrm>
            <a:off x="1032510" y="6306264"/>
            <a:ext cx="5918121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Initial matching, 24-hour temporary chat, mutual confirmation, and integrated reviews.</a:t>
            </a:r>
            <a:endParaRPr b="0" i="0" sz="1750" u="none" cap="none" strike="noStrike"/>
          </a:p>
        </p:txBody>
      </p:sp>
      <p:sp>
        <p:nvSpPr>
          <p:cNvPr id="208" name="Google Shape;208;p7"/>
          <p:cNvSpPr/>
          <p:nvPr/>
        </p:nvSpPr>
        <p:spPr>
          <a:xfrm>
            <a:off x="7426404" y="5288399"/>
            <a:ext cx="6424493" cy="1983700"/>
          </a:xfrm>
          <a:prstGeom prst="roundRect">
            <a:avLst>
              <a:gd fmla="val 7375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7426404" y="5257919"/>
            <a:ext cx="6424493" cy="121920"/>
          </a:xfrm>
          <a:prstGeom prst="roundRect">
            <a:avLst>
              <a:gd fmla="val 76721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10304562" y="4954429"/>
            <a:ext cx="668060" cy="668060"/>
          </a:xfrm>
          <a:prstGeom prst="roundRect">
            <a:avLst>
              <a:gd fmla="val 13687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679531" y="5845135"/>
            <a:ext cx="2620089" cy="327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 SemiBold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Admin Oversight</a:t>
            </a:r>
            <a:endParaRPr b="0" i="0" sz="2050" u="none" cap="none" strike="noStrike"/>
          </a:p>
        </p:txBody>
      </p:sp>
      <p:sp>
        <p:nvSpPr>
          <p:cNvPr id="212" name="Google Shape;212;p7"/>
          <p:cNvSpPr/>
          <p:nvPr/>
        </p:nvSpPr>
        <p:spPr>
          <a:xfrm>
            <a:off x="7679531" y="6306264"/>
            <a:ext cx="5918240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Comprehensive tools for viewing reports, moderating content and users, and accessing usage statistics.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648050" y="535225"/>
            <a:ext cx="12563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Source Serif 4 SemiBold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Non-Functional Requirements: Ensuring a Robust Platform</a:t>
            </a:r>
            <a:endParaRPr b="0" i="0" sz="3400" u="none" cap="none" strike="noStrike"/>
          </a:p>
        </p:txBody>
      </p:sp>
      <p:sp>
        <p:nvSpPr>
          <p:cNvPr id="219" name="Google Shape;219;p8"/>
          <p:cNvSpPr/>
          <p:nvPr/>
        </p:nvSpPr>
        <p:spPr>
          <a:xfrm>
            <a:off x="648057" y="1424464"/>
            <a:ext cx="740569" cy="1110972"/>
          </a:xfrm>
          <a:prstGeom prst="roundRect">
            <a:avLst>
              <a:gd fmla="val 360044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1573768" y="1609606"/>
            <a:ext cx="2178368" cy="27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Performance</a:t>
            </a:r>
            <a:endParaRPr b="0" i="0" sz="1700" u="none" cap="none" strike="noStrike"/>
          </a:p>
        </p:txBody>
      </p:sp>
      <p:sp>
        <p:nvSpPr>
          <p:cNvPr id="221" name="Google Shape;221;p8"/>
          <p:cNvSpPr/>
          <p:nvPr/>
        </p:nvSpPr>
        <p:spPr>
          <a:xfrm>
            <a:off x="1573768" y="1992987"/>
            <a:ext cx="12408575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Typical actions like search and chat response within ~2 seconds.</a:t>
            </a:r>
            <a:endParaRPr b="0" i="0" sz="1450" u="none" cap="none" strike="noStrike"/>
          </a:p>
        </p:txBody>
      </p:sp>
      <p:sp>
        <p:nvSpPr>
          <p:cNvPr id="222" name="Google Shape;222;p8"/>
          <p:cNvSpPr/>
          <p:nvPr/>
        </p:nvSpPr>
        <p:spPr>
          <a:xfrm>
            <a:off x="648057" y="2720578"/>
            <a:ext cx="740569" cy="1110972"/>
          </a:xfrm>
          <a:prstGeom prst="roundRect">
            <a:avLst>
              <a:gd fmla="val 360044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1573775" y="2905749"/>
            <a:ext cx="27171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Availability &amp; Reliability</a:t>
            </a:r>
            <a:endParaRPr b="0" i="0" sz="1700" u="none" cap="none" strike="noStrike"/>
          </a:p>
        </p:txBody>
      </p:sp>
      <p:sp>
        <p:nvSpPr>
          <p:cNvPr id="224" name="Google Shape;224;p8"/>
          <p:cNvSpPr/>
          <p:nvPr/>
        </p:nvSpPr>
        <p:spPr>
          <a:xfrm>
            <a:off x="1573768" y="3289102"/>
            <a:ext cx="12408575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Targeting 99% uptime with persistent storage for all critical user and job data.</a:t>
            </a:r>
            <a:endParaRPr b="0" i="0" sz="1450" u="none" cap="none" strike="noStrike"/>
          </a:p>
        </p:txBody>
      </p:sp>
      <p:sp>
        <p:nvSpPr>
          <p:cNvPr id="225" name="Google Shape;225;p8"/>
          <p:cNvSpPr/>
          <p:nvPr/>
        </p:nvSpPr>
        <p:spPr>
          <a:xfrm>
            <a:off x="648057" y="4016693"/>
            <a:ext cx="740569" cy="1110972"/>
          </a:xfrm>
          <a:prstGeom prst="roundRect">
            <a:avLst>
              <a:gd fmla="val 360044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1573768" y="4201835"/>
            <a:ext cx="2178368" cy="27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Security &amp; Privacy</a:t>
            </a:r>
            <a:endParaRPr b="0" i="0" sz="1700" u="none" cap="none" strike="noStrike"/>
          </a:p>
        </p:txBody>
      </p:sp>
      <p:sp>
        <p:nvSpPr>
          <p:cNvPr id="227" name="Google Shape;227;p8"/>
          <p:cNvSpPr/>
          <p:nvPr/>
        </p:nvSpPr>
        <p:spPr>
          <a:xfrm>
            <a:off x="1573768" y="4585216"/>
            <a:ext cx="12408575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HTTPS, hashed passwords, access control, and privacy by hiding exact addresses until match.</a:t>
            </a:r>
            <a:endParaRPr b="0" i="0" sz="1450" u="none" cap="none" strike="noStrike"/>
          </a:p>
        </p:txBody>
      </p:sp>
      <p:sp>
        <p:nvSpPr>
          <p:cNvPr id="228" name="Google Shape;228;p8"/>
          <p:cNvSpPr/>
          <p:nvPr/>
        </p:nvSpPr>
        <p:spPr>
          <a:xfrm>
            <a:off x="648057" y="5312807"/>
            <a:ext cx="740569" cy="1110972"/>
          </a:xfrm>
          <a:prstGeom prst="roundRect">
            <a:avLst>
              <a:gd fmla="val 360044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1573768" y="5497949"/>
            <a:ext cx="2178368" cy="27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Usability</a:t>
            </a:r>
            <a:endParaRPr b="0" i="0" sz="1700" u="none" cap="none" strike="noStrike"/>
          </a:p>
        </p:txBody>
      </p:sp>
      <p:sp>
        <p:nvSpPr>
          <p:cNvPr id="230" name="Google Shape;230;p8"/>
          <p:cNvSpPr/>
          <p:nvPr/>
        </p:nvSpPr>
        <p:spPr>
          <a:xfrm>
            <a:off x="1573768" y="5881330"/>
            <a:ext cx="12408575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Mobile-first design, max 3 taps for main flows, and clear validation messages.</a:t>
            </a:r>
            <a:endParaRPr b="0" i="0" sz="1450" u="none" cap="none" strike="noStrike"/>
          </a:p>
        </p:txBody>
      </p:sp>
      <p:sp>
        <p:nvSpPr>
          <p:cNvPr id="231" name="Google Shape;231;p8"/>
          <p:cNvSpPr/>
          <p:nvPr/>
        </p:nvSpPr>
        <p:spPr>
          <a:xfrm>
            <a:off x="648057" y="6608921"/>
            <a:ext cx="740569" cy="1110972"/>
          </a:xfrm>
          <a:prstGeom prst="roundRect">
            <a:avLst>
              <a:gd fmla="val 360044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1573775" y="6794051"/>
            <a:ext cx="2973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Scalability &amp; Compatibility</a:t>
            </a:r>
            <a:endParaRPr b="0" i="0" sz="1700" u="none" cap="none" strike="noStrike"/>
          </a:p>
        </p:txBody>
      </p:sp>
      <p:sp>
        <p:nvSpPr>
          <p:cNvPr id="233" name="Google Shape;233;p8"/>
          <p:cNvSpPr/>
          <p:nvPr/>
        </p:nvSpPr>
        <p:spPr>
          <a:xfrm>
            <a:off x="1573768" y="7177445"/>
            <a:ext cx="12408575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Backend and database designed for growth, responsive web, and future native app support.</a:t>
            </a:r>
            <a:endParaRPr b="0" i="0" sz="1450" u="none" cap="none" strike="noStrike"/>
          </a:p>
        </p:txBody>
      </p:sp>
      <p:pic>
        <p:nvPicPr>
          <p:cNvPr id="234" name="Google Shape;23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224" y="174181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226" y="3037941"/>
            <a:ext cx="476250" cy="476250"/>
          </a:xfrm>
          <a:prstGeom prst="rect">
            <a:avLst/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6" name="Google Shape;236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216" y="433404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203" y="5630171"/>
            <a:ext cx="476250" cy="476250"/>
          </a:xfrm>
          <a:prstGeom prst="rect">
            <a:avLst/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8" name="Google Shape;238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0212" y="6926269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4" name="Google Shape;2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88" y="0"/>
            <a:ext cx="4083124" cy="689503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/>
          <p:nvPr/>
        </p:nvSpPr>
        <p:spPr>
          <a:xfrm>
            <a:off x="5914201" y="304425"/>
            <a:ext cx="6480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Source Serif 4 SemiBold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Main System Design: Architecture Overview</a:t>
            </a:r>
            <a:endParaRPr b="0" i="0" sz="2250" u="none" cap="none" strike="noStrike"/>
          </a:p>
        </p:txBody>
      </p:sp>
      <p:pic>
        <p:nvPicPr>
          <p:cNvPr descr="preencoded.png" id="246" name="Google Shape;2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878919"/>
            <a:ext cx="7498080" cy="595205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9374800" y="3636039"/>
            <a:ext cx="134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ource Serif 4 SemiBold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Client-Server Architecture</a:t>
            </a:r>
            <a:endParaRPr b="0" i="0" sz="1250" u="none" cap="none" strike="noStrike"/>
          </a:p>
        </p:txBody>
      </p:sp>
      <p:sp>
        <p:nvSpPr>
          <p:cNvPr id="248" name="Google Shape;248;p9"/>
          <p:cNvSpPr/>
          <p:nvPr/>
        </p:nvSpPr>
        <p:spPr>
          <a:xfrm>
            <a:off x="10700342" y="1582665"/>
            <a:ext cx="2004572" cy="289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Client</a:t>
            </a:r>
            <a:endParaRPr b="0" i="0" sz="1250" u="none" cap="none" strike="noStrike"/>
          </a:p>
        </p:txBody>
      </p:sp>
      <p:sp>
        <p:nvSpPr>
          <p:cNvPr id="249" name="Google Shape;249;p9"/>
          <p:cNvSpPr/>
          <p:nvPr/>
        </p:nvSpPr>
        <p:spPr>
          <a:xfrm>
            <a:off x="10700342" y="1960095"/>
            <a:ext cx="2004572" cy="246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Web &amp; mobile interfaces</a:t>
            </a:r>
            <a:endParaRPr b="0" i="0" sz="1050" u="none" cap="none" strike="noStrike"/>
          </a:p>
        </p:txBody>
      </p:sp>
      <p:sp>
        <p:nvSpPr>
          <p:cNvPr id="250" name="Google Shape;250;p9"/>
          <p:cNvSpPr/>
          <p:nvPr/>
        </p:nvSpPr>
        <p:spPr>
          <a:xfrm>
            <a:off x="7359088" y="1582675"/>
            <a:ext cx="20046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Chat &amp; Notifications</a:t>
            </a:r>
            <a:endParaRPr b="0" i="0" sz="1250" u="none" cap="none" strike="noStrike"/>
          </a:p>
        </p:txBody>
      </p:sp>
      <p:sp>
        <p:nvSpPr>
          <p:cNvPr id="251" name="Google Shape;251;p9"/>
          <p:cNvSpPr/>
          <p:nvPr/>
        </p:nvSpPr>
        <p:spPr>
          <a:xfrm>
            <a:off x="7359105" y="1981662"/>
            <a:ext cx="2004571" cy="4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messages &amp; alerts</a:t>
            </a:r>
            <a:endParaRPr b="0" i="0" sz="1050" u="none" cap="none" strike="noStrike"/>
          </a:p>
        </p:txBody>
      </p:sp>
      <p:sp>
        <p:nvSpPr>
          <p:cNvPr id="252" name="Google Shape;252;p9"/>
          <p:cNvSpPr/>
          <p:nvPr/>
        </p:nvSpPr>
        <p:spPr>
          <a:xfrm>
            <a:off x="7359105" y="5493556"/>
            <a:ext cx="2004571" cy="289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Job Management</a:t>
            </a:r>
            <a:endParaRPr b="0" i="0" sz="1250" u="none" cap="none" strike="noStrike"/>
          </a:p>
        </p:txBody>
      </p:sp>
      <p:sp>
        <p:nvSpPr>
          <p:cNvPr id="253" name="Google Shape;253;p9"/>
          <p:cNvSpPr/>
          <p:nvPr/>
        </p:nvSpPr>
        <p:spPr>
          <a:xfrm>
            <a:off x="7359105" y="5870986"/>
            <a:ext cx="2004571" cy="246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Postings &amp; workflows</a:t>
            </a:r>
            <a:endParaRPr b="0" i="0" sz="1050" u="none" cap="none" strike="noStrike"/>
          </a:p>
        </p:txBody>
      </p:sp>
      <p:sp>
        <p:nvSpPr>
          <p:cNvPr id="254" name="Google Shape;254;p9"/>
          <p:cNvSpPr/>
          <p:nvPr/>
        </p:nvSpPr>
        <p:spPr>
          <a:xfrm>
            <a:off x="10700325" y="5438803"/>
            <a:ext cx="2004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User Management</a:t>
            </a:r>
            <a:endParaRPr b="0" i="0" sz="1250" u="none" cap="none" strike="noStrike"/>
          </a:p>
        </p:txBody>
      </p:sp>
      <p:sp>
        <p:nvSpPr>
          <p:cNvPr id="255" name="Google Shape;255;p9"/>
          <p:cNvSpPr/>
          <p:nvPr/>
        </p:nvSpPr>
        <p:spPr>
          <a:xfrm>
            <a:off x="10700342" y="5892553"/>
            <a:ext cx="2004572" cy="4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Authentication &amp; profiles</a:t>
            </a:r>
            <a:endParaRPr b="0" i="0" sz="1050" u="none" cap="none" strike="noStrike"/>
          </a:p>
        </p:txBody>
      </p:sp>
      <p:sp>
        <p:nvSpPr>
          <p:cNvPr id="256" name="Google Shape;256;p9"/>
          <p:cNvSpPr/>
          <p:nvPr/>
        </p:nvSpPr>
        <p:spPr>
          <a:xfrm>
            <a:off x="11423364" y="3510723"/>
            <a:ext cx="2048390" cy="289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Backend</a:t>
            </a:r>
            <a:endParaRPr b="0" i="0" sz="1250" u="none" cap="none" strike="noStrike"/>
          </a:p>
        </p:txBody>
      </p:sp>
      <p:sp>
        <p:nvSpPr>
          <p:cNvPr id="257" name="Google Shape;257;p9"/>
          <p:cNvSpPr/>
          <p:nvPr/>
        </p:nvSpPr>
        <p:spPr>
          <a:xfrm>
            <a:off x="11423364" y="3888153"/>
            <a:ext cx="2048390" cy="246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RESTful API core services</a:t>
            </a:r>
            <a:endParaRPr b="0" i="0" sz="1050" u="none" cap="none" strike="noStrike"/>
          </a:p>
        </p:txBody>
      </p:sp>
      <p:sp>
        <p:nvSpPr>
          <p:cNvPr id="258" name="Google Shape;258;p9"/>
          <p:cNvSpPr/>
          <p:nvPr/>
        </p:nvSpPr>
        <p:spPr>
          <a:xfrm>
            <a:off x="6625128" y="3521678"/>
            <a:ext cx="2048391" cy="289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Matching Engine</a:t>
            </a:r>
            <a:endParaRPr b="0" i="0" sz="1250" u="none" cap="none" strike="noStrike"/>
          </a:p>
        </p:txBody>
      </p:sp>
      <p:sp>
        <p:nvSpPr>
          <p:cNvPr id="259" name="Google Shape;259;p9"/>
          <p:cNvSpPr/>
          <p:nvPr/>
        </p:nvSpPr>
        <p:spPr>
          <a:xfrm>
            <a:off x="6625128" y="3899108"/>
            <a:ext cx="2048391" cy="246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Pairing logic and rules</a:t>
            </a:r>
            <a:endParaRPr b="0" i="0" sz="1050" u="none" cap="none" strike="noStrike"/>
          </a:p>
        </p:txBody>
      </p:sp>
      <p:sp>
        <p:nvSpPr>
          <p:cNvPr id="260" name="Google Shape;260;p9"/>
          <p:cNvSpPr/>
          <p:nvPr/>
        </p:nvSpPr>
        <p:spPr>
          <a:xfrm>
            <a:off x="60542" y="6968371"/>
            <a:ext cx="4083000" cy="918900"/>
          </a:xfrm>
          <a:prstGeom prst="roundRect">
            <a:avLst>
              <a:gd fmla="val 7960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0527" y="6968371"/>
            <a:ext cx="60900" cy="918900"/>
          </a:xfrm>
          <a:prstGeom prst="roundRect">
            <a:avLst>
              <a:gd fmla="val 8421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243648" y="7032419"/>
            <a:ext cx="14379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erif 4 SemiBold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Client-Server Model</a:t>
            </a:r>
            <a:endParaRPr b="0" i="0" sz="1100" u="none" cap="none" strike="noStrike"/>
          </a:p>
        </p:txBody>
      </p:sp>
      <p:sp>
        <p:nvSpPr>
          <p:cNvPr id="263" name="Google Shape;263;p9"/>
          <p:cNvSpPr/>
          <p:nvPr/>
        </p:nvSpPr>
        <p:spPr>
          <a:xfrm>
            <a:off x="243647" y="7285427"/>
            <a:ext cx="37626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Web/mobile client interfaces with a robust backend via RESTful APIs for all core functionalities.</a:t>
            </a:r>
            <a:endParaRPr b="0" i="0" sz="950" u="none" cap="none" strike="noStrike"/>
          </a:p>
        </p:txBody>
      </p:sp>
      <p:sp>
        <p:nvSpPr>
          <p:cNvPr id="264" name="Google Shape;264;p9"/>
          <p:cNvSpPr/>
          <p:nvPr/>
        </p:nvSpPr>
        <p:spPr>
          <a:xfrm>
            <a:off x="4434729" y="6960746"/>
            <a:ext cx="4083000" cy="918900"/>
          </a:xfrm>
          <a:prstGeom prst="roundRect">
            <a:avLst>
              <a:gd fmla="val 7960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434714" y="6968371"/>
            <a:ext cx="60900" cy="918900"/>
          </a:xfrm>
          <a:prstGeom prst="roundRect">
            <a:avLst>
              <a:gd fmla="val 8421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617847" y="7098144"/>
            <a:ext cx="14379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erif 4 SemiBold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Core Components</a:t>
            </a:r>
            <a:endParaRPr b="0" i="0" sz="1100" u="none" cap="none" strike="noStrike"/>
          </a:p>
        </p:txBody>
      </p:sp>
      <p:sp>
        <p:nvSpPr>
          <p:cNvPr id="267" name="Google Shape;267;p9"/>
          <p:cNvSpPr/>
          <p:nvPr/>
        </p:nvSpPr>
        <p:spPr>
          <a:xfrm>
            <a:off x="4617847" y="7351152"/>
            <a:ext cx="37626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User, Job, and Matching Engines, along with Chat &amp; Notifications and Admin Dashboard for comprehensive control.</a:t>
            </a:r>
            <a:endParaRPr b="0" i="0" sz="950" u="none" cap="none" strike="noStrike"/>
          </a:p>
        </p:txBody>
      </p:sp>
      <p:sp>
        <p:nvSpPr>
          <p:cNvPr id="268" name="Google Shape;268;p9"/>
          <p:cNvSpPr/>
          <p:nvPr/>
        </p:nvSpPr>
        <p:spPr>
          <a:xfrm>
            <a:off x="8808892" y="6895597"/>
            <a:ext cx="4083000" cy="918900"/>
          </a:xfrm>
          <a:prstGeom prst="roundRect">
            <a:avLst>
              <a:gd fmla="val 7960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8808902" y="6895597"/>
            <a:ext cx="60900" cy="918900"/>
          </a:xfrm>
          <a:prstGeom prst="roundRect">
            <a:avLst>
              <a:gd fmla="val 8421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8992010" y="7032996"/>
            <a:ext cx="14379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erif 4 SemiBold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Key Integrations</a:t>
            </a:r>
            <a:endParaRPr b="0" i="0" sz="1100" u="none" cap="none" strike="noStrike"/>
          </a:p>
        </p:txBody>
      </p:sp>
      <p:sp>
        <p:nvSpPr>
          <p:cNvPr id="271" name="Google Shape;271;p9"/>
          <p:cNvSpPr/>
          <p:nvPr/>
        </p:nvSpPr>
        <p:spPr>
          <a:xfrm>
            <a:off x="8992010" y="7286003"/>
            <a:ext cx="37626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/>
              <a:buNone/>
            </a:pPr>
            <a:r>
              <a:rPr b="0" i="0" lang="en-US" sz="9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Seamless integration with Map APIs (Google Maps/OpenStreetMap) and dedicated image storage solutions.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7" name="Google Shape;2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/>
          <p:nvPr/>
        </p:nvSpPr>
        <p:spPr>
          <a:xfrm>
            <a:off x="6145887" y="819031"/>
            <a:ext cx="7825026" cy="1108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Source Serif 4 SemiBold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Summary: Livin' Towards a Connected Future</a:t>
            </a:r>
            <a:endParaRPr b="0" i="0" sz="3450" u="none" cap="none" strike="noStrike"/>
          </a:p>
        </p:txBody>
      </p:sp>
      <p:sp>
        <p:nvSpPr>
          <p:cNvPr id="279" name="Google Shape;279;p10"/>
          <p:cNvSpPr/>
          <p:nvPr/>
        </p:nvSpPr>
        <p:spPr>
          <a:xfrm>
            <a:off x="6145887" y="2210038"/>
            <a:ext cx="7825026" cy="1083469"/>
          </a:xfrm>
          <a:prstGeom prst="roundRect">
            <a:avLst>
              <a:gd fmla="val 41740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6341864" y="2406015"/>
            <a:ext cx="2216825" cy="277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Bridging Gaps</a:t>
            </a:r>
            <a:endParaRPr b="0" i="0" sz="1700" u="none" cap="none" strike="noStrike"/>
          </a:p>
        </p:txBody>
      </p:sp>
      <p:sp>
        <p:nvSpPr>
          <p:cNvPr id="281" name="Google Shape;281;p10"/>
          <p:cNvSpPr/>
          <p:nvPr/>
        </p:nvSpPr>
        <p:spPr>
          <a:xfrm>
            <a:off x="6341864" y="2796064"/>
            <a:ext cx="7433072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Livin seamlessly connects owners and young helpers for reliable pet and plant care.</a:t>
            </a:r>
            <a:endParaRPr b="0" i="0" sz="1450" u="none" cap="none" strike="noStrike"/>
          </a:p>
        </p:txBody>
      </p:sp>
      <p:sp>
        <p:nvSpPr>
          <p:cNvPr id="282" name="Google Shape;282;p10"/>
          <p:cNvSpPr/>
          <p:nvPr/>
        </p:nvSpPr>
        <p:spPr>
          <a:xfrm>
            <a:off x="6145887" y="3481864"/>
            <a:ext cx="7825026" cy="1083469"/>
          </a:xfrm>
          <a:prstGeom prst="roundRect">
            <a:avLst>
              <a:gd fmla="val 41740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6341864" y="3677841"/>
            <a:ext cx="2216825" cy="277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Innovative Blend</a:t>
            </a:r>
            <a:endParaRPr b="0" i="0" sz="1700" u="none" cap="none" strike="noStrike"/>
          </a:p>
        </p:txBody>
      </p:sp>
      <p:sp>
        <p:nvSpPr>
          <p:cNvPr id="284" name="Google Shape;284;p10"/>
          <p:cNvSpPr/>
          <p:nvPr/>
        </p:nvSpPr>
        <p:spPr>
          <a:xfrm>
            <a:off x="6341864" y="4067889"/>
            <a:ext cx="7433072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 unique platform combining gig economy, green care principles, and youth participation.</a:t>
            </a:r>
            <a:endParaRPr b="0" i="0" sz="1450" u="none" cap="none" strike="noStrike"/>
          </a:p>
        </p:txBody>
      </p:sp>
      <p:sp>
        <p:nvSpPr>
          <p:cNvPr id="285" name="Google Shape;285;p10"/>
          <p:cNvSpPr/>
          <p:nvPr/>
        </p:nvSpPr>
        <p:spPr>
          <a:xfrm>
            <a:off x="6145887" y="4753689"/>
            <a:ext cx="7825026" cy="1384935"/>
          </a:xfrm>
          <a:prstGeom prst="roundRect">
            <a:avLst>
              <a:gd fmla="val 32654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341864" y="4949666"/>
            <a:ext cx="2216825" cy="277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Solid Foundation</a:t>
            </a:r>
            <a:endParaRPr b="0" i="0" sz="1700" u="none" cap="none" strike="noStrike"/>
          </a:p>
        </p:txBody>
      </p:sp>
      <p:sp>
        <p:nvSpPr>
          <p:cNvPr id="287" name="Google Shape;287;p10"/>
          <p:cNvSpPr/>
          <p:nvPr/>
        </p:nvSpPr>
        <p:spPr>
          <a:xfrm>
            <a:off x="6341864" y="5339715"/>
            <a:ext cx="7433072" cy="602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Built upon clear functional and non-functional requirements, with a scalable architecture for growth.</a:t>
            </a:r>
            <a:endParaRPr b="0" i="0" sz="1450" u="none" cap="none" strike="noStrike"/>
          </a:p>
        </p:txBody>
      </p:sp>
      <p:sp>
        <p:nvSpPr>
          <p:cNvPr id="288" name="Google Shape;288;p10"/>
          <p:cNvSpPr/>
          <p:nvPr/>
        </p:nvSpPr>
        <p:spPr>
          <a:xfrm>
            <a:off x="6145887" y="6326981"/>
            <a:ext cx="7825026" cy="1083469"/>
          </a:xfrm>
          <a:prstGeom prst="roundRect">
            <a:avLst>
              <a:gd fmla="val 41740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6341864" y="6522958"/>
            <a:ext cx="2216825" cy="277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Source Serif 4 SemiBold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Next Steps</a:t>
            </a:r>
            <a:endParaRPr b="0" i="0" sz="1700" u="none" cap="none" strike="noStrike"/>
          </a:p>
        </p:txBody>
      </p:sp>
      <p:sp>
        <p:nvSpPr>
          <p:cNvPr id="290" name="Google Shape;290;p10"/>
          <p:cNvSpPr/>
          <p:nvPr/>
        </p:nvSpPr>
        <p:spPr>
          <a:xfrm>
            <a:off x="6341864" y="6913007"/>
            <a:ext cx="7433072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Focus on UI prototyping, implementation, and thorough user testing to bring Livin to life!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2025-12-31T14:43:07Z</dcterms:created>
</cp:coreProperties>
</file>